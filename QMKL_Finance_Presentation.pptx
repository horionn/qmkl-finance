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40880" y="-731519"/>
            <a:ext cx="5120640" cy="5120640"/>
          </a:xfrm>
          <a:prstGeom prst="ellipse">
            <a:avLst/>
          </a:prstGeom>
          <a:noFill/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2468880"/>
            <a:ext cx="3291840" cy="3291840"/>
          </a:xfrm>
          <a:prstGeom prst="ellipse">
            <a:avLst/>
          </a:prstGeom>
          <a:noFill/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114800"/>
            <a:ext cx="1828800" cy="1828800"/>
          </a:xfrm>
          <a:prstGeom prst="ellipse">
            <a:avLst/>
          </a:prstGeom>
          <a:noFill/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QUANTUM MACHINE LEARNING · FINANCE ·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Quantum Multiple
Kernel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4A261"/>
                </a:solidFill>
              </a:rPr>
              <a:t>pour la Classification Financière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60520"/>
            <a:ext cx="8229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ECAE6"/>
                </a:solidFill>
              </a:rPr>
              <a:t>Un benchmark empirique complet · 17 notebooks · 14 contributions originales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ECAE6"/>
                </a:solidFill>
              </a:rPr>
              <a:t>Mars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CAE6"/>
                </a:solidFill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Notre parcours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0972800" cy="25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ECAE6"/>
                </a:solidFill>
              </a:rPr>
              <a:t>17 notebooks · des données brutes aux contributions frontières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2240280"/>
            <a:ext cx="822960" cy="25400"/>
          </a:xfrm>
          <a:prstGeom prst="rect">
            <a:avLst/>
          </a:prstGeom>
          <a:solidFill>
            <a:srgbClr val="8E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828800"/>
            <a:ext cx="1463040" cy="8229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NB 01–05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</a:rPr>
              <a:t>Fondations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Exploration données,
baselines, ablation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240280"/>
            <a:ext cx="822960" cy="25400"/>
          </a:xfrm>
          <a:prstGeom prst="rect">
            <a:avLst/>
          </a:prstGeom>
          <a:solidFill>
            <a:srgbClr val="8E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26080" y="1828800"/>
            <a:ext cx="1463040" cy="82296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8288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NB 06–10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7889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4A261"/>
                </a:solidFill>
              </a:rPr>
              <a:t>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2004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20+ kernels, BO,
Hardware IBM, Shapley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240280"/>
            <a:ext cx="822960" cy="25400"/>
          </a:xfrm>
          <a:prstGeom prst="rect">
            <a:avLst/>
          </a:prstGeom>
          <a:solidFill>
            <a:srgbClr val="8E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12080" y="1828800"/>
            <a:ext cx="1463040" cy="82296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18288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NB 11–12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7889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2B788"/>
                </a:solidFill>
              </a:rPr>
              <a:t>Synthèse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2004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Rapport final,
5 métriques interprétabilité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19" y="2240280"/>
            <a:ext cx="822960" cy="25400"/>
          </a:xfrm>
          <a:prstGeom prst="rect">
            <a:avLst/>
          </a:prstGeom>
          <a:solidFill>
            <a:srgbClr val="8E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8079" y="1828800"/>
            <a:ext cx="1463040" cy="8229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18288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NB 13–15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59" y="27889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D700"/>
                </a:solidFill>
              </a:rPr>
              <a:t>Contributions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59" y="32004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QKRR, VQKL, QKAM,
Phase diagram, Drift</a:t>
            </a:r>
          </a:p>
        </p:txBody>
      </p:sp>
      <p:sp>
        <p:nvSpPr>
          <p:cNvPr id="27" name="Oval 26"/>
          <p:cNvSpPr/>
          <p:nvPr/>
        </p:nvSpPr>
        <p:spPr>
          <a:xfrm>
            <a:off x="9784080" y="1828800"/>
            <a:ext cx="1463040" cy="822960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18288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NB 16–17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7889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77DFF"/>
                </a:solidFill>
              </a:rPr>
              <a:t>Extension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32004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Rapport figure,
Mitigation concentration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297680"/>
            <a:ext cx="11155680" cy="150876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40740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B4D8"/>
                </a:solidFill>
              </a:rPr>
              <a:t>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956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ECAE6"/>
                </a:solidFill>
              </a:rPr>
              <a:t>notebooks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32888" y="440740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B4D8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32888" y="4956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ECAE6"/>
                </a:solidFill>
              </a:rPr>
              <a:t>datasets financiers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9976" y="440740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B4D8"/>
                </a:solidFill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9976" y="4956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ECAE6"/>
                </a:solidFill>
              </a:rPr>
              <a:t>kernels quantiques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27064" y="440740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B4D8"/>
                </a:solidFill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27064" y="4956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ECAE6"/>
                </a:solidFill>
              </a:rPr>
              <a:t>contributions originales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4152" y="440740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B4D8"/>
                </a:solidFill>
              </a:rPr>
              <a:t>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4152" y="4956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ECAE6"/>
                </a:solidFill>
              </a:rPr>
              <a:t>runs par expérience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440740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B4D8"/>
                </a:solidFill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40" y="4956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ECAE6"/>
                </a:solidFill>
              </a:rPr>
              <a:t>qubits simulés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CAE6"/>
                </a:solidFill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La question centrale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11064240" cy="141732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8872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4D8"/>
                </a:solidFill>
              </a:rPr>
              <a:t>Les kernels quantiques apportent-ils un avantage mesurable
sur des données financières réelles 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3566160" cy="356616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356616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Le kernel quantique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27248"/>
            <a:ext cx="3383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K(x,x') = |⟨ψ(x')|ψ(x)⟩|²
Mesure la similarité entre deux points de données via la fidélité de leurs états quantiques. En théorie, capture des structures que les kernels classiques ne voient pas.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743200"/>
            <a:ext cx="3566160" cy="356616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743200"/>
            <a:ext cx="3566160" cy="2926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78892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Multiple Kernel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127248"/>
            <a:ext cx="3383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K_w = Σ wₘ Kₘ
Combine M kernels quantiques différents (familles Pauli, bandwidths α variés) avec des poids optimisés — meilleur que n'importe quel kernel seul.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59" y="2743200"/>
            <a:ext cx="3566160" cy="356616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59" y="2743200"/>
            <a:ext cx="3566160" cy="29260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278892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Notre réponse honnête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3127248"/>
            <a:ext cx="3383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Après 17 notebooks et des centaines d'expériences : QMKL sous-performe les classiques de −4 à −7 pts AUC. Mais on a compris pourquoi — et trouvé des exceptions intéressantes.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CAE6"/>
                </a:solidFill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Notre démarche expérimentale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0972800" cy="25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05840"/>
            <a:ext cx="3657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02412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3 Datasets financiers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3657600" cy="16002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50800" cy="1600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179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German Credit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10512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1 000 clients banque
20 features → 6 (PCA)
30% mauvais payeurs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3657600" cy="16002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50800" cy="1600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552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Bank Marketing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547872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45 000 appels
16 features → 6 (PCA)
12% souscriptions (déséquilibre)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937760"/>
            <a:ext cx="3657600" cy="16002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937760"/>
            <a:ext cx="50800" cy="1600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9926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Breast Cancer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285232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569 patients
30 features → 6 (PCA)
Dataset médical référence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1005840"/>
            <a:ext cx="3657600" cy="34747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102412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12 Kernels quantiques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1463040"/>
            <a:ext cx="3657600" cy="16002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1463040"/>
            <a:ext cx="50800" cy="1600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15179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</a:rPr>
              <a:t>Familles Pauli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1810512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Z, ZZ, XZ, YXX, YZX, Pauli
6 familles × 2 bandwidths 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3200400"/>
            <a:ext cx="3657600" cy="16002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3200400"/>
            <a:ext cx="50800" cy="1600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44568" y="32552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</a:rPr>
              <a:t>Feature maps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3547872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PauliFeatureMap, 6 qubits
Simulation statevector exacte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4937760"/>
            <a:ext cx="3657600" cy="16002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34840" y="4937760"/>
            <a:ext cx="50800" cy="1600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44568" y="49926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</a:rPr>
              <a:t>Diversité réelle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4568" y="5285232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Alignement moyen entre paires:
0.62 — réellement distincts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1005840"/>
            <a:ext cx="3657600" cy="34747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102412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4 Stratégies MKL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1463040"/>
            <a:ext cx="3657600" cy="16002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1463040"/>
            <a:ext cx="50800" cy="16002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8" y="15179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</a:rPr>
              <a:t>Average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8" y="1810512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Poids uniformes 1/M
(baseline simple)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3200400"/>
            <a:ext cx="3657600" cy="16002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3200400"/>
            <a:ext cx="50800" cy="16002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9328" y="32552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</a:rPr>
              <a:t>Centered Align.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8" y="3547872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Solution analytique fermée
(optimale en KTA)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4937760"/>
            <a:ext cx="3657600" cy="16002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29600" y="4937760"/>
            <a:ext cx="50800" cy="16002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39328" y="49926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</a:rPr>
              <a:t>Best. optim. BO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9328" y="5285232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Optimisation bayésienne
(25 appels, 8 points initiaux)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6675119"/>
            <a:ext cx="3657600" cy="16002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9600" y="6675119"/>
            <a:ext cx="50800" cy="16002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8" y="6729983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</a:rPr>
              <a:t>Protocole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9328" y="7022591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20 runs · split 67/33
Test Wilcoxon vs RBF-SVM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CAE6"/>
                </a:solidFill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Le résultat principal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0972800" cy="25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ECAE6"/>
                </a:solidFill>
              </a:rPr>
              <a:t>AUC moyen sur 20 runs · test Wilcoxon vs RBF-SVM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914400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Méthode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40817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German
Credit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40817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Bank
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40817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Breast
Cancer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847088"/>
            <a:ext cx="9144000" cy="475488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38528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[Q] Average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938528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3946"/>
                </a:solidFill>
              </a:rPr>
              <a:t>0.7634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1938528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3946"/>
                </a:solidFill>
              </a:rPr>
              <a:t>0.7246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938528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2B788"/>
                </a:solidFill>
              </a:rPr>
              <a:t>0.9951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322576"/>
            <a:ext cx="91440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14016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[Q] Centered Align.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14016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3946"/>
                </a:solidFill>
              </a:rPr>
              <a:t>0.7504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414016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3946"/>
                </a:solidFill>
              </a:rPr>
              <a:t>0.7628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414016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2B788"/>
                </a:solidFill>
              </a:rPr>
              <a:t>0.9948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2798064"/>
            <a:ext cx="9144000" cy="475488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889504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4D8"/>
                </a:solidFill>
              </a:rPr>
              <a:t>[Q] Bayesian Opt.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889504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3946"/>
                </a:solidFill>
              </a:rPr>
              <a:t>0.7584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889504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3946"/>
                </a:solidFill>
              </a:rPr>
              <a:t>0.7741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889504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2B788"/>
                </a:solidFill>
              </a:rPr>
              <a:t>0.9948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273552"/>
            <a:ext cx="9144000" cy="475488"/>
          </a:xfrm>
          <a:prstGeom prst="rect">
            <a:avLst/>
          </a:prstGeom>
          <a:solidFill>
            <a:srgbClr val="0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364992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</a:rPr>
              <a:t>[C] RBF-SVM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364992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700"/>
                </a:solidFill>
              </a:rPr>
              <a:t>0.8345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364992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700"/>
                </a:solidFill>
              </a:rPr>
              <a:t>0.8168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364992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700"/>
                </a:solidFill>
              </a:rPr>
              <a:t>0.9963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3749040"/>
            <a:ext cx="9144000" cy="475488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840480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A261"/>
                </a:solidFill>
              </a:rPr>
              <a:t>[C] Random Forest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3840480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2B788"/>
                </a:solidFill>
              </a:rPr>
              <a:t>0.8330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840480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2B788"/>
                </a:solidFill>
              </a:rPr>
              <a:t>0.8183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3840480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0.9916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224528"/>
            <a:ext cx="91440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315968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A261"/>
                </a:solidFill>
              </a:rPr>
              <a:t>[C] Régression Log.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315968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3946"/>
                </a:solidFill>
              </a:rPr>
              <a:t>0.7990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4315968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2B788"/>
                </a:solidFill>
              </a:rPr>
              <a:t>0.8672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4315968"/>
            <a:ext cx="2011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2B788"/>
                </a:solidFill>
              </a:rPr>
              <a:t>0.9955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Gap QMKL vs RBF-SVM (meilleur quantique) :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486400"/>
            <a:ext cx="3291840" cy="9144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532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ECAE6"/>
                </a:solidFill>
              </a:rPr>
              <a:t>German Credit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806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946"/>
                </a:solidFill>
              </a:rPr>
              <a:t>−7.1 pts AUC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0" y="5486400"/>
            <a:ext cx="3291840" cy="9144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5532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ECAE6"/>
                </a:solidFill>
              </a:rPr>
              <a:t>Bank Marketing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5806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</a:rPr>
              <a:t>−4.3 pts AUC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19" y="5486400"/>
            <a:ext cx="3291840" cy="9144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80959" y="5532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ECAE6"/>
                </a:solidFill>
              </a:rPr>
              <a:t>Breast Cancer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59" y="5806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2B788"/>
                </a:solidFill>
              </a:rPr>
              <a:t>−0.1 pts AUC
(non significatif)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CAE6"/>
                </a:solidFill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Pourquoi QMKL sous-performe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0972800" cy="25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ECAE6"/>
                </a:solidFill>
              </a:rPr>
              <a:t>Quatre causes diagnostiquées expérimentalement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94960" cy="242316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02920" cy="24231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15087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4A261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8928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Alignement avec le RBF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258568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ECAE6"/>
                </a:solidFill>
              </a:rPr>
              <a:t>Les kernels quantiques imitent partiellement le RBF
(alignement Frobenius moyen : 0.642).
L'espace de features quantique n'est pas assez
orthogonal pour apporter de l'information complémentaire.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148840"/>
            <a:ext cx="1097280" cy="8229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167128"/>
            <a:ext cx="1097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0.642
alig. moyen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5394960" cy="242316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02920" cy="24231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6288" y="15087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63946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18928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Barren plateaux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258568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ECAE6"/>
                </a:solidFill>
              </a:rPr>
              <a:t>La concentration du kernel chute de 60 % entre Q=2
et Q=8. Avec Q=6, les kernels sont déjà partiellement
concentrés : la matrice de Gram tend vers l'identité
et perd sa capacité discriminante.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0" y="2148840"/>
            <a:ext cx="1097280" cy="8229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0" y="2167128"/>
            <a:ext cx="1097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−60 %
Q2 → Q8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69080"/>
            <a:ext cx="5394960" cy="242316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069080"/>
            <a:ext cx="502920" cy="2423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8" y="41605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45445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Structure des données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4910328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ECAE6"/>
                </a:solidFill>
              </a:rPr>
              <a:t>Les données financières tabulaires (après PCA)
n'ont pas la structure d'entanglement que les
PauliFeatureMaps sont conçues pour capturer.
Ces feature maps ciblent les données quantiques.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4800600"/>
            <a:ext cx="109728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818888"/>
            <a:ext cx="1097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PCA
→ 6D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069080"/>
            <a:ext cx="5394960" cy="242316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069080"/>
            <a:ext cx="502920" cy="2423160"/>
          </a:xfrm>
          <a:prstGeom prst="rect">
            <a:avLst/>
          </a:prstGeom>
          <a:solidFill>
            <a:srgbClr val="8E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6288" y="41605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ECAE6"/>
                </a:solidFill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45445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N / dim trop faible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4910328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ECAE6"/>
                </a:solidFill>
              </a:rPr>
              <a:t>Avec N=200 et un espace de Hilbert de dim 2^6=64,
le ratio données/dimension est faible. Le SVM
devient dense en support vectors : 84 % des
instances pilotent la frontière.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4800600"/>
            <a:ext cx="1097280" cy="822960"/>
          </a:xfrm>
          <a:prstGeom prst="rect">
            <a:avLst/>
          </a:prstGeom>
          <a:solidFill>
            <a:srgbClr val="8E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0" y="4818888"/>
            <a:ext cx="1097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84 %
sup. vect.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CAE6"/>
                </a:solidFill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Les barren plateaux — première carte 2D (Q × α)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09728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ECAE6"/>
                </a:solidFill>
              </a:rPr>
              <a:t>Quand la grille (Q qubits × bandwidth α) est-elle optimale ?  [Notebook 13]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097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CAE6"/>
                </a:solidFill>
              </a:rPr>
              <a:t>Bandwidth α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9968" y="1188720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ECAE6"/>
                </a:solidFill>
              </a:rPr>
              <a:t>0.3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1188720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ECAE6"/>
                </a:solidFill>
              </a:rPr>
              <a:t>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6704" y="1188720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ECAE6"/>
                </a:solidFill>
              </a:rPr>
              <a:t>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072" y="1188720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ECAE6"/>
                </a:solidFill>
              </a:rPr>
              <a:t>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188720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ECAE6"/>
                </a:solidFill>
              </a:rPr>
              <a:t>3.0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1188720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ECAE6"/>
                </a:solidFill>
              </a:rPr>
              <a:t>4.0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4173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CAE6"/>
                </a:solidFill>
              </a:rPr>
              <a:t>Q↓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1527048"/>
            <a:ext cx="27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CAE6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002536"/>
            <a:ext cx="27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CAE6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478024"/>
            <a:ext cx="27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CAE6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953512"/>
            <a:ext cx="27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CAE6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429000"/>
            <a:ext cx="27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CAE6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04488"/>
            <a:ext cx="27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CAE6"/>
                </a:solidFill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379976"/>
            <a:ext cx="274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CAE6"/>
                </a:solidFill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1417320"/>
            <a:ext cx="645668" cy="462788"/>
          </a:xfrm>
          <a:prstGeom prst="rect">
            <a:avLst/>
          </a:prstGeom>
          <a:solidFill>
            <a:srgbClr val="C25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01952" y="1527048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0.33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7168" y="1417320"/>
            <a:ext cx="645668" cy="462788"/>
          </a:xfrm>
          <a:prstGeom prst="rect">
            <a:avLst/>
          </a:prstGeom>
          <a:solidFill>
            <a:srgbClr val="B26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1527048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0.40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45536" y="1417320"/>
            <a:ext cx="645668" cy="462788"/>
          </a:xfrm>
          <a:prstGeom prst="rect">
            <a:avLst/>
          </a:prstGeom>
          <a:solidFill>
            <a:srgbClr val="937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18688" y="1527048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0.54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03904" y="1417320"/>
            <a:ext cx="645668" cy="462788"/>
          </a:xfrm>
          <a:prstGeom prst="rect">
            <a:avLst/>
          </a:prstGeom>
          <a:solidFill>
            <a:srgbClr val="A7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77056" y="1527048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0.45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62272" y="1417320"/>
            <a:ext cx="645668" cy="462788"/>
          </a:xfrm>
          <a:prstGeom prst="rect">
            <a:avLst/>
          </a:prstGeom>
          <a:solidFill>
            <a:srgbClr val="B46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35424" y="1527048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0.39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1417320"/>
            <a:ext cx="645668" cy="462788"/>
          </a:xfrm>
          <a:prstGeom prst="rect">
            <a:avLst/>
          </a:prstGeom>
          <a:solidFill>
            <a:srgbClr val="B95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3792" y="1527048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0.37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0" y="1892808"/>
            <a:ext cx="645668" cy="462788"/>
          </a:xfrm>
          <a:prstGeom prst="rect">
            <a:avLst/>
          </a:prstGeom>
          <a:solidFill>
            <a:srgbClr val="DF3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01952" y="2002536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0.20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87168" y="1892808"/>
            <a:ext cx="645668" cy="462788"/>
          </a:xfrm>
          <a:prstGeom prst="rect">
            <a:avLst/>
          </a:prstGeom>
          <a:solidFill>
            <a:srgbClr val="C85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0" y="2002536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0.30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45536" y="1892808"/>
            <a:ext cx="645668" cy="462788"/>
          </a:xfrm>
          <a:prstGeom prst="rect">
            <a:avLst/>
          </a:prstGeom>
          <a:solidFill>
            <a:srgbClr val="7A9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18688" y="2002536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0.65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03904" y="1892808"/>
            <a:ext cx="645668" cy="462788"/>
          </a:xfrm>
          <a:prstGeom prst="rect">
            <a:avLst/>
          </a:prstGeom>
          <a:solidFill>
            <a:srgbClr val="58B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77056" y="2002536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0.80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62272" y="1892808"/>
            <a:ext cx="645668" cy="462788"/>
          </a:xfrm>
          <a:prstGeom prst="rect">
            <a:avLst/>
          </a:prstGeom>
          <a:solidFill>
            <a:srgbClr val="908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35424" y="2002536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0.55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20640" y="1892808"/>
            <a:ext cx="645668" cy="462788"/>
          </a:xfrm>
          <a:prstGeom prst="rect">
            <a:avLst/>
          </a:prstGeom>
          <a:solidFill>
            <a:srgbClr val="B26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93792" y="2002536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0.40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0" y="2368296"/>
            <a:ext cx="645668" cy="4627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01952" y="2478024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0.17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87168" y="2368296"/>
            <a:ext cx="645668" cy="462788"/>
          </a:xfrm>
          <a:prstGeom prst="rect">
            <a:avLst/>
          </a:prstGeom>
          <a:solidFill>
            <a:srgbClr val="BD5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0" y="2478024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0.35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45536" y="2368296"/>
            <a:ext cx="645668" cy="462788"/>
          </a:xfrm>
          <a:prstGeom prst="rect">
            <a:avLst/>
          </a:prstGeom>
          <a:solidFill>
            <a:srgbClr val="908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18688" y="2478024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0.55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03904" y="2368296"/>
            <a:ext cx="645668" cy="462788"/>
          </a:xfrm>
          <a:prstGeom prst="rect">
            <a:avLst/>
          </a:prstGeom>
          <a:solidFill>
            <a:srgbClr val="63A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77056" y="2478024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0.75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62272" y="2368296"/>
            <a:ext cx="645668" cy="462788"/>
          </a:xfrm>
          <a:prstGeom prst="rect">
            <a:avLst/>
          </a:prstGeom>
          <a:solidFill>
            <a:srgbClr val="7A9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35424" y="2478024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0.65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20640" y="2368296"/>
            <a:ext cx="645668" cy="462788"/>
          </a:xfrm>
          <a:prstGeom prst="rect">
            <a:avLst/>
          </a:prstGeom>
          <a:solidFill>
            <a:srgbClr val="9C7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93792" y="2478024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0.50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0" y="2843784"/>
            <a:ext cx="645668" cy="462788"/>
          </a:xfrm>
          <a:prstGeom prst="rect">
            <a:avLst/>
          </a:prstGeom>
          <a:solidFill>
            <a:srgbClr val="BD5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01952" y="2953512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0.35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87168" y="2843784"/>
            <a:ext cx="645668" cy="462788"/>
          </a:xfrm>
          <a:prstGeom prst="rect">
            <a:avLst/>
          </a:prstGeom>
          <a:solidFill>
            <a:srgbClr val="A76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60320" y="2953512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0.45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145536" y="2843784"/>
            <a:ext cx="645668" cy="462788"/>
          </a:xfrm>
          <a:prstGeom prst="rect">
            <a:avLst/>
          </a:prstGeom>
          <a:solidFill>
            <a:srgbClr val="6F9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18688" y="2953512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0.70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03904" y="2843784"/>
            <a:ext cx="645668" cy="46278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77056" y="2953512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0.83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778504" y="2818384"/>
            <a:ext cx="696468" cy="5135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803904" y="2843784"/>
            <a:ext cx="645668" cy="46278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77056" y="2953512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B2A"/>
                </a:solidFill>
              </a:rPr>
              <a:t>0.83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62272" y="2843784"/>
            <a:ext cx="645668" cy="462788"/>
          </a:xfrm>
          <a:prstGeom prst="rect">
            <a:avLst/>
          </a:prstGeom>
          <a:solidFill>
            <a:srgbClr val="6AA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35424" y="2953512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0.72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20640" y="2843784"/>
            <a:ext cx="645668" cy="462788"/>
          </a:xfrm>
          <a:prstGeom prst="rect">
            <a:avLst/>
          </a:prstGeom>
          <a:solidFill>
            <a:srgbClr val="858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93792" y="2953512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0.60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28800" y="3319272"/>
            <a:ext cx="645668" cy="462788"/>
          </a:xfrm>
          <a:prstGeom prst="rect">
            <a:avLst/>
          </a:prstGeom>
          <a:solidFill>
            <a:srgbClr val="C85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901952" y="3429000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0.30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87168" y="3319272"/>
            <a:ext cx="645668" cy="462788"/>
          </a:xfrm>
          <a:prstGeom prst="rect">
            <a:avLst/>
          </a:prstGeom>
          <a:solidFill>
            <a:srgbClr val="B26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560320" y="3429000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0.40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145536" y="3319272"/>
            <a:ext cx="645668" cy="462788"/>
          </a:xfrm>
          <a:prstGeom prst="rect">
            <a:avLst/>
          </a:prstGeom>
          <a:solidFill>
            <a:srgbClr val="858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18688" y="3429000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0.60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03904" y="3319272"/>
            <a:ext cx="645668" cy="462788"/>
          </a:xfrm>
          <a:prstGeom prst="rect">
            <a:avLst/>
          </a:prstGeom>
          <a:solidFill>
            <a:srgbClr val="66A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77056" y="3429000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0.74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462272" y="3319272"/>
            <a:ext cx="645668" cy="462788"/>
          </a:xfrm>
          <a:prstGeom prst="rect">
            <a:avLst/>
          </a:prstGeom>
          <a:solidFill>
            <a:srgbClr val="6F9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35424" y="3429000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0.70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20640" y="3319272"/>
            <a:ext cx="645668" cy="462788"/>
          </a:xfrm>
          <a:prstGeom prst="rect">
            <a:avLst/>
          </a:prstGeom>
          <a:solidFill>
            <a:srgbClr val="8A8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193792" y="3429000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0.58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828800" y="3794760"/>
            <a:ext cx="645668" cy="462788"/>
          </a:xfrm>
          <a:prstGeom prst="rect">
            <a:avLst/>
          </a:prstGeom>
          <a:solidFill>
            <a:srgbClr val="CF4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901952" y="3904488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0.27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487168" y="3794760"/>
            <a:ext cx="645668" cy="462788"/>
          </a:xfrm>
          <a:prstGeom prst="rect">
            <a:avLst/>
          </a:prstGeom>
          <a:solidFill>
            <a:srgbClr val="B66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560320" y="3904488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0.38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145536" y="3794760"/>
            <a:ext cx="645668" cy="462788"/>
          </a:xfrm>
          <a:prstGeom prst="rect">
            <a:avLst/>
          </a:prstGeom>
          <a:solidFill>
            <a:srgbClr val="8A8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18688" y="3904488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0.58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803904" y="3794760"/>
            <a:ext cx="645668" cy="462788"/>
          </a:xfrm>
          <a:prstGeom prst="rect">
            <a:avLst/>
          </a:prstGeom>
          <a:solidFill>
            <a:srgbClr val="6AA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877056" y="3904488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0.72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462272" y="3794760"/>
            <a:ext cx="645668" cy="462788"/>
          </a:xfrm>
          <a:prstGeom prst="rect">
            <a:avLst/>
          </a:prstGeom>
          <a:solidFill>
            <a:srgbClr val="7E9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35424" y="3904488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0.63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20640" y="3794760"/>
            <a:ext cx="645668" cy="462788"/>
          </a:xfrm>
          <a:prstGeom prst="rect">
            <a:avLst/>
          </a:prstGeom>
          <a:solidFill>
            <a:srgbClr val="908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193792" y="3904488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0.55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828800" y="4270248"/>
            <a:ext cx="645668" cy="462788"/>
          </a:xfrm>
          <a:prstGeom prst="rect">
            <a:avLst/>
          </a:prstGeom>
          <a:solidFill>
            <a:srgbClr val="7C9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901952" y="4379976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0.64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487168" y="4270248"/>
            <a:ext cx="645668" cy="462788"/>
          </a:xfrm>
          <a:prstGeom prst="rect">
            <a:avLst/>
          </a:prstGeom>
          <a:solidFill>
            <a:srgbClr val="7A9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560320" y="4379976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0.65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145536" y="4270248"/>
            <a:ext cx="645668" cy="462788"/>
          </a:xfrm>
          <a:prstGeom prst="rect">
            <a:avLst/>
          </a:prstGeom>
          <a:solidFill>
            <a:srgbClr val="6F9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218688" y="4379976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0.70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803904" y="4270248"/>
            <a:ext cx="645668" cy="462788"/>
          </a:xfrm>
          <a:prstGeom prst="rect">
            <a:avLst/>
          </a:prstGeom>
          <a:solidFill>
            <a:srgbClr val="5DA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877056" y="4379976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0.78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462272" y="4270248"/>
            <a:ext cx="645668" cy="462788"/>
          </a:xfrm>
          <a:prstGeom prst="rect">
            <a:avLst/>
          </a:prstGeom>
          <a:solidFill>
            <a:srgbClr val="68A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35424" y="4379976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0.73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120640" y="4270248"/>
            <a:ext cx="645668" cy="462788"/>
          </a:xfrm>
          <a:prstGeom prst="rect">
            <a:avLst/>
          </a:prstGeom>
          <a:solidFill>
            <a:srgbClr val="739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193792" y="4379976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2A"/>
                </a:solidFill>
              </a:rPr>
              <a:t>0.68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126480" y="1371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700"/>
                </a:solidFill>
              </a:rPr>
              <a:t>Résultats clés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26480" y="1874519"/>
            <a:ext cx="5577840" cy="105156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126480" y="1874519"/>
            <a:ext cx="63500" cy="10515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236208" y="1929383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Sweet spot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36208" y="2221991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Q=5, α=2.0 → AUC = 0.83
1re carte de ce type pour QMKL finance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26480" y="3063239"/>
            <a:ext cx="5577840" cy="105156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126480" y="3063239"/>
            <a:ext cx="63500" cy="10515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236208" y="3118103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946"/>
                </a:solidFill>
              </a:rPr>
              <a:t>Concentration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236208" y="3410711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Chute de 60 % entre Q=2 et Q=8
(barren plateau confirmé expérimentalement)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26480" y="4251960"/>
            <a:ext cx="5577840" cy="105156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126480" y="4251960"/>
            <a:ext cx="63500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236208" y="430682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Expressivité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236208" y="459943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H/H_max quantique = 0.653
vs RBF = 0.813 (kernel moins riche)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126480" y="5440680"/>
            <a:ext cx="5577840" cy="105156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126480" y="5440680"/>
            <a:ext cx="63500" cy="105156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236208" y="549554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2B788"/>
                </a:solidFill>
              </a:rPr>
              <a:t>Support vectors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36208" y="578815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84 % des instances sont des SV stables
(symptôme de concentration excessive)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CAE6"/>
                </a:solidFill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Les résultats positifs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0972800" cy="254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ECAE6"/>
                </a:solidFill>
              </a:rPr>
              <a:t>Trois découvertes inattendues qui ouvrent des perspectives réelles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3657600" cy="50292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3657600" cy="29260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990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QKRR bat le QSVM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783080"/>
            <a:ext cx="2011680" cy="9144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1801368"/>
            <a:ext cx="20116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+7 pts
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La Quantum Kernel Ridge Regression (QKRR) — une alternative
analytique au SVM — surpasse le QSVM de +7 pts sur German Credit.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ECAE6"/>
                </a:solidFill>
              </a:rPr>
              <a:t>La régularisation ridge est mieux adaptée aux kernels concentrés
que la marge dure du SVM. Solution analytique : α* = (K + λI)⁻¹y.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257800"/>
            <a:ext cx="338328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</a:rPr>
              <a:t>QKRR = 0.756
QSVM = 0.686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1371600"/>
            <a:ext cx="3657600" cy="50292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1371600"/>
            <a:ext cx="365760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3990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Diversité → gain MKL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783080"/>
            <a:ext cx="201168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1801368"/>
            <a:ext cx="20116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r = 0.738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8346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La diversité entre kernels (alignement croisé faible) prédit
fortement le gain marginal en LOO — corrélation r = 0.738.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690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ECAE6"/>
                </a:solidFill>
              </a:rPr>
              <a:t>Premier résultat de ce type pour QMKL. Actionnable :
sélectionner les kernels les plus distincts maximise le gain MKL.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5257800"/>
            <a:ext cx="338328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53035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ZZ α=4.0 : gain max
diversité = 0.451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1371600"/>
            <a:ext cx="3657600" cy="50292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1371600"/>
            <a:ext cx="3657600" cy="2926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13990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VQKL : +1.55 pts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1783080"/>
            <a:ext cx="2011680" cy="914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1801368"/>
            <a:ext cx="20116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</a:rPr>
              <a:t>+1.55 pts
AUC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8346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Le Variational Quantum Kernel Learning optimise conjointement
les bandwidths α et les poids w via gradient sur le KTA.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0690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ECAE6"/>
                </a:solidFill>
              </a:rPr>
              <a:t>Les α optimaux divergent légèrement des valeurs initiales
(α_ZZ : 1.0→1.07, α_XZ : 0.5→0.69). L'approche variationnelle converge.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5257800"/>
            <a:ext cx="338328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53035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</a:rPr>
              <a:t>VQKL = 0.704
Grille fixe = 0.688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CAE6"/>
                </a:solidFill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Phase diagram de l'avantage quantique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0972800" cy="2540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ECAE6"/>
                </a:solidFill>
              </a:rPr>
              <a:t>Dans quelles conditions QMKL peut-il battre RBF-SVM ?  [Notebook 15]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0972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CAE6"/>
                </a:solidFill>
              </a:rPr>
              <a:t>← Bruit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1887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ECAE6"/>
                </a:solidFill>
              </a:rPr>
              <a:t>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1887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ECAE6"/>
                </a:solidFill>
              </a:rPr>
              <a:t>0.05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1887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ECAE6"/>
                </a:solidFill>
              </a:rPr>
              <a:t>0.1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1887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ECAE6"/>
                </a:solidFill>
              </a:rPr>
              <a:t>0.2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417320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CAE6"/>
                </a:solidFill>
              </a:rPr>
              <a:t>Sépar.
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600200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ECAE6"/>
                </a:solidFill>
              </a:rPr>
              <a:t>0.3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258568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ECAE6"/>
                </a:solidFill>
              </a:rPr>
              <a:t>0.6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16936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ECAE6"/>
                </a:solidFill>
              </a:rPr>
              <a:t>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75304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ECAE6"/>
                </a:solidFill>
              </a:rPr>
              <a:t>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33672"/>
            <a:ext cx="502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ECAE6"/>
                </a:solidFill>
              </a:rPr>
              <a:t>2.0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1417320"/>
            <a:ext cx="1176020" cy="645668"/>
          </a:xfrm>
          <a:prstGeom prst="rect">
            <a:avLst/>
          </a:prstGeom>
          <a:solidFill>
            <a:srgbClr val="E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1600200"/>
            <a:ext cx="914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-0.300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1417320"/>
            <a:ext cx="1176020" cy="645668"/>
          </a:xfrm>
          <a:prstGeom prst="rect">
            <a:avLst/>
          </a:prstGeom>
          <a:solidFill>
            <a:srgbClr val="A3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1600200"/>
            <a:ext cx="914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-0.180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1417320"/>
            <a:ext cx="1176020" cy="645668"/>
          </a:xfrm>
          <a:prstGeom prst="rect">
            <a:avLst/>
          </a:prstGeom>
          <a:solidFill>
            <a:srgbClr val="8D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1600200"/>
            <a:ext cx="914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-0.140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1417320"/>
            <a:ext cx="1176020" cy="645668"/>
          </a:xfrm>
          <a:prstGeom prst="rect">
            <a:avLst/>
          </a:prstGeom>
          <a:solidFill>
            <a:srgbClr val="711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1600200"/>
            <a:ext cx="914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ECAE6"/>
                </a:solidFill>
              </a:rPr>
              <a:t>-0.090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2075688"/>
            <a:ext cx="1176020" cy="645668"/>
          </a:xfrm>
          <a:prstGeom prst="rect">
            <a:avLst/>
          </a:prstGeom>
          <a:solidFill>
            <a:srgbClr val="B9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37360" y="2258568"/>
            <a:ext cx="914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-0.220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2075688"/>
            <a:ext cx="1176020" cy="645668"/>
          </a:xfrm>
          <a:prstGeom prst="rect">
            <a:avLst/>
          </a:prstGeom>
          <a:solidFill>
            <a:srgbClr val="981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0" y="2258568"/>
            <a:ext cx="914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-0.160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1920" y="2075688"/>
            <a:ext cx="1176020" cy="645668"/>
          </a:xfrm>
          <a:prstGeom prst="rect">
            <a:avLst/>
          </a:prstGeom>
          <a:solidFill>
            <a:srgbClr val="77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2258568"/>
            <a:ext cx="914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-0.100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2075688"/>
            <a:ext cx="1176020" cy="645668"/>
          </a:xfrm>
          <a:prstGeom prst="rect">
            <a:avLst/>
          </a:prstGeom>
          <a:solidFill>
            <a:srgbClr val="66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2258568"/>
            <a:ext cx="914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ECAE6"/>
                </a:solidFill>
              </a:rPr>
              <a:t>-0.070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2734056"/>
            <a:ext cx="1176020" cy="645668"/>
          </a:xfrm>
          <a:prstGeom prst="rect">
            <a:avLst/>
          </a:prstGeom>
          <a:solidFill>
            <a:srgbClr val="93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37360" y="2916936"/>
            <a:ext cx="914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-0.150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2734056"/>
            <a:ext cx="1176020" cy="645668"/>
          </a:xfrm>
          <a:prstGeom prst="rect">
            <a:avLst/>
          </a:prstGeom>
          <a:solidFill>
            <a:srgbClr val="6C1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0" y="2916936"/>
            <a:ext cx="914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ECAE6"/>
                </a:solidFill>
              </a:rPr>
              <a:t>-0.080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31920" y="2734056"/>
            <a:ext cx="1176020" cy="645668"/>
          </a:xfrm>
          <a:prstGeom prst="rect">
            <a:avLst/>
          </a:prstGeom>
          <a:solidFill>
            <a:srgbClr val="561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0" y="2916936"/>
            <a:ext cx="914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ECAE6"/>
                </a:solidFill>
              </a:rPr>
              <a:t>-0.040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0" y="2734056"/>
            <a:ext cx="1176020" cy="645668"/>
          </a:xfrm>
          <a:prstGeom prst="rect">
            <a:avLst/>
          </a:prstGeom>
          <a:solidFill>
            <a:srgbClr val="50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0" y="2916936"/>
            <a:ext cx="914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ECAE6"/>
                </a:solidFill>
              </a:rPr>
              <a:t>-0.030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54480" y="3392424"/>
            <a:ext cx="1176020" cy="645668"/>
          </a:xfrm>
          <a:prstGeom prst="rect">
            <a:avLst/>
          </a:prstGeom>
          <a:solidFill>
            <a:srgbClr val="6C1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37360" y="3575304"/>
            <a:ext cx="914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ECAE6"/>
                </a:solidFill>
              </a:rPr>
              <a:t>-0.080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0" y="3392424"/>
            <a:ext cx="1176020" cy="645668"/>
          </a:xfrm>
          <a:prstGeom prst="rect">
            <a:avLst/>
          </a:prstGeom>
          <a:solidFill>
            <a:srgbClr val="401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26080" y="3575304"/>
            <a:ext cx="914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8ECAE6"/>
                </a:solidFill>
              </a:rPr>
              <a:t>-0.001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31920" y="3392424"/>
            <a:ext cx="1176020" cy="645668"/>
          </a:xfrm>
          <a:prstGeom prst="rect">
            <a:avLst/>
          </a:prstGeom>
          <a:solidFill>
            <a:srgbClr val="451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0" y="3575304"/>
            <a:ext cx="914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ECAE6"/>
                </a:solidFill>
              </a:rPr>
              <a:t>-0.010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20640" y="3392424"/>
            <a:ext cx="1176020" cy="645668"/>
          </a:xfrm>
          <a:prstGeom prst="rect">
            <a:avLst/>
          </a:prstGeom>
          <a:solidFill>
            <a:srgbClr val="4B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0" y="3575304"/>
            <a:ext cx="914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ECAE6"/>
                </a:solidFill>
              </a:rPr>
              <a:t>-0.020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54480" y="4050792"/>
            <a:ext cx="1176020" cy="645668"/>
          </a:xfrm>
          <a:prstGeom prst="rect">
            <a:avLst/>
          </a:prstGeom>
          <a:solidFill>
            <a:srgbClr val="5B1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37360" y="4233672"/>
            <a:ext cx="914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ECAE6"/>
                </a:solidFill>
              </a:rPr>
              <a:t>-0.050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0" y="4050792"/>
            <a:ext cx="1176020" cy="645668"/>
          </a:xfrm>
          <a:prstGeom prst="rect">
            <a:avLst/>
          </a:prstGeom>
          <a:solidFill>
            <a:srgbClr val="451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26080" y="4233672"/>
            <a:ext cx="914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ECAE6"/>
                </a:solidFill>
              </a:rPr>
              <a:t>-0.010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31920" y="4050792"/>
            <a:ext cx="1176020" cy="645668"/>
          </a:xfrm>
          <a:prstGeom prst="rect">
            <a:avLst/>
          </a:prstGeom>
          <a:solidFill>
            <a:srgbClr val="4D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0" y="4233672"/>
            <a:ext cx="914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ECAE6"/>
                </a:solidFill>
              </a:rPr>
              <a:t>-0.025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20640" y="4050792"/>
            <a:ext cx="1176020" cy="645668"/>
          </a:xfrm>
          <a:prstGeom prst="rect">
            <a:avLst/>
          </a:prstGeom>
          <a:solidFill>
            <a:srgbClr val="561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03520" y="4233672"/>
            <a:ext cx="914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ECAE6"/>
                </a:solidFill>
              </a:rPr>
              <a:t>-0.040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1371600"/>
            <a:ext cx="5394960" cy="41148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92240" y="1371600"/>
            <a:ext cx="5394960" cy="5080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29400" y="148132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Résultat le plus frappant de l'étude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0" y="196596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E63946"/>
                </a:solidFill>
              </a:rPr>
              <a:t>0 / 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29400" y="29718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configurations testées
avec avantage quantique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566160"/>
            <a:ext cx="5120640" cy="25400"/>
          </a:xfrm>
          <a:prstGeom prst="rect">
            <a:avLst/>
          </a:prstGeom>
          <a:solidFill>
            <a:srgbClr val="8EC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29400" y="3639312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CAE6"/>
                </a:solidFill>
              </a:rPr>
              <a:t>Sur données synthétiques tabulaires,
même structure que les données financières :
QMKL ne surpasse pas RBF-SVM dans
aucune des 20 configurations
(séparabilité × niveau de bruit).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92240" y="5623560"/>
            <a:ext cx="5394960" cy="9144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29400" y="5669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</a:rPr>
              <a:t>Concept drift  [NB 15] :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29400" y="59893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Coût moyen du drift = −11 pts AUC
QMKL inadapté sans réentraînement fréquent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CAE6"/>
                </a:solidFill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14 contributions originales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ECAE6"/>
                </a:solidFill>
              </a:rPr>
              <a:t>Organisées en 4 niveaux de profondeur — de l'interprétabilité à la frontière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27432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898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Tier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459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1B2A"/>
                </a:solidFill>
              </a:rPr>
              <a:t>Interprétabilité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011680"/>
            <a:ext cx="2743200" cy="7772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011680"/>
            <a:ext cx="5080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103120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Alignement Frobenius Quantum ↔ RBF  (0.642 moyen)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880360"/>
            <a:ext cx="2743200" cy="7772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880360"/>
            <a:ext cx="5080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971800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Entropie spectrale + dimension effective  (H/H_max=0.65)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749039"/>
            <a:ext cx="2743200" cy="7772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749039"/>
            <a:ext cx="5080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840479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Dataset parité quantum-hard  (QMKL≈RBF≈hasard)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617720"/>
            <a:ext cx="2743200" cy="7772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617720"/>
            <a:ext cx="5080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709160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Frontière de décision PCA-2D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5486400"/>
            <a:ext cx="2743200" cy="7772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5486400"/>
            <a:ext cx="5080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5577840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Prototypes financiers (stabilité SV : 84 %)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1371600"/>
            <a:ext cx="2743200" cy="5486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7872" y="13898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Tier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7872" y="16459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1B2A"/>
                </a:solidFill>
              </a:rPr>
              <a:t>Algorithmique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2011680"/>
            <a:ext cx="2743200" cy="7772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74720" y="2011680"/>
            <a:ext cx="50800" cy="7772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84448" y="2103120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Carte barren plateaux (Q×α)  — sweet spot Q=5,α=2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2880360"/>
            <a:ext cx="2743200" cy="7772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74720" y="2880360"/>
            <a:ext cx="50800" cy="7772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84448" y="2971800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QKRR — alternative analytique au QSVM  (+7 pts)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0" y="3749039"/>
            <a:ext cx="2743200" cy="7772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74720" y="3749039"/>
            <a:ext cx="50800" cy="7772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84448" y="3840479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Gradient KTA — paysage non convexe découvert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1371600"/>
            <a:ext cx="2743200" cy="5486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2" y="13898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Tier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2" y="16459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1B2A"/>
                </a:solidFill>
              </a:rPr>
              <a:t>Avancé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2011680"/>
            <a:ext cx="2743200" cy="7772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5080" y="2011680"/>
            <a:ext cx="50800" cy="7772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64808" y="2103120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VQKL — optimisation variationnelle des α  (+1.55 pts)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2880360"/>
            <a:ext cx="2743200" cy="7772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5080" y="2880360"/>
            <a:ext cx="50800" cy="7772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4808" y="2971800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Learning curves  — pas d'avantage data efficiency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3749039"/>
            <a:ext cx="2743200" cy="7772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55080" y="3749039"/>
            <a:ext cx="50800" cy="7772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64808" y="3840479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Diversité des kernels  — corrélation r=0.738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35440" y="1371600"/>
            <a:ext cx="2743200" cy="54864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08592" y="13898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Tier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08592" y="16459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1B2A"/>
                </a:solidFill>
              </a:rPr>
              <a:t>Frontière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35440" y="2011680"/>
            <a:ext cx="2743200" cy="7772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35440" y="2011680"/>
            <a:ext cx="50800" cy="77724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45168" y="2103120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QKAM — attention instance-adaptive  (−6.4 pts)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35440" y="2880360"/>
            <a:ext cx="2743200" cy="7772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35440" y="2880360"/>
            <a:ext cx="50800" cy="77724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45168" y="2971800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Phase diagram avantage quantique  (0/20 configs)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35440" y="3749039"/>
            <a:ext cx="2743200" cy="7772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235440" y="3749039"/>
            <a:ext cx="50800" cy="77724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45168" y="3840479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Concept drift robustness  (coût=11 pts AUC)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" y="6400800"/>
            <a:ext cx="11155680" cy="3200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" y="64190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ECAE6"/>
                </a:solidFill>
              </a:rPr>
              <a:t>5 métriques Tier 1  ·  3 contributions Tier 2  ·  3 contributions Tier 3  ·  3 contributions Tier 4  =  14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CAE6"/>
                </a:solidFill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Notebook 17 — La dernière pièce du puzzle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0972800" cy="254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ECAE6"/>
                </a:solidFill>
              </a:rPr>
              <a:t>Basé sur arXiv 2602.16097 (Zendejas-Morales et al., fév. 2026)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1064240" cy="6858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</a:rPr>
              <a:t>"Local and Multi-Scale Strategies to Mitigate Exponential Concentration in Quantum Kernels"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5394960" cy="12344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50800" cy="12344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942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</a:rPr>
              <a:t>Le problème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42032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La matrice de Gram du kernel global tend vers l'identité quand Q augmente — perte totale d'information discriminante.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66160"/>
            <a:ext cx="5394960" cy="12344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0800" cy="12344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2102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</a:rPr>
              <a:t>Solution 1 : Patches locaux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13632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Partitionner les qubits en petits groupes (patches). Chaque patch calcule son propre kernel de fidélité, puis on moyenne.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37760"/>
            <a:ext cx="5394960" cy="12344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937760"/>
            <a:ext cx="50800" cy="12344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9262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2B788"/>
                </a:solidFill>
              </a:rPr>
              <a:t>Solution 2 : Multi-échelles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85232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Combiner des kernels locaux à plusieurs granularités simultanément {p=1, p=2, p=4} → capture structure locale ET globale.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194560"/>
            <a:ext cx="5394960" cy="12344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194560"/>
            <a:ext cx="50800" cy="12344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24942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</a:rPr>
              <a:t>Ce que le papier prouve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542032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La mitigation géométrique (moins de concentration) ne garantit PAS un gain en AUC sans alignement avec les labels (CKA).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5394960" cy="12344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566160"/>
            <a:ext cx="50800" cy="12344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62102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</a:rPr>
              <a:t>Notre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913632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Sur Breast Cancer + German Credit + Bank Marketing : nos données confirment p50↑, H/H_max↑ pour kernels locaux mais gain AUC dépend du CKA.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937760"/>
            <a:ext cx="5394960" cy="12344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937760"/>
            <a:ext cx="50800" cy="12344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99262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</a:rPr>
              <a:t>Lien avec nos résultats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285232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Ce papier explique formellement pourquoi nos 84 % de support vectors et notre barren plateau map (NB13) s'observent — théorie + expérience alignées.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CAE6"/>
                </a:solidFill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1064240" cy="100584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63500" cy="10058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9728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QMKL n'offre pas d'avantage quantique sur données financières tabulaires dans nos conditions
(N=200, Q=6, feature maps Pauli reps=1) — écart de −4 à −7 pts AUC vs RBF-SVM, robuste sur 20 runs et 3 datasets.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3946"/>
                </a:solidFill>
              </a:rPr>
              <a:t>Ce qu'on a compris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88920"/>
            <a:ext cx="164592" cy="1645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Kernels quantiques imitent le RBF (align. 0.642)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29000"/>
            <a:ext cx="164592" cy="1645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Barren plateaux : −60 % concentration entre Q2→Q8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69079"/>
            <a:ext cx="164592" cy="1645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0/20 configurations avec avantage quantique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09160"/>
            <a:ext cx="164592" cy="1645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Instabilité face au concept drift (−11 pts)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49240"/>
            <a:ext cx="164592" cy="1645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Circuits trop peu profonds pour données tabulaires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40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2B788"/>
                </a:solidFill>
              </a:rPr>
              <a:t>Ce qu'on a apporté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788920"/>
            <a:ext cx="164592" cy="16459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697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QKRR : +7 pts vs QSVM  (alternative analytique)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429000"/>
            <a:ext cx="164592" cy="16459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337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Diversité ↔ gain MKL  (r = 0.738, actionnable)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069079"/>
            <a:ext cx="164592" cy="16459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9776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VQKL : +1.55 pts en optimisant les 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709160"/>
            <a:ext cx="164592" cy="16459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617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Sweet spot Q=5, α=2.0  (première carte 2D)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349240"/>
            <a:ext cx="164592" cy="16459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5257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14 contributions originales dans la littérature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669280"/>
            <a:ext cx="11064240" cy="86868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715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</a:rPr>
              <a:t>Vers l'avantage quantique 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5715000"/>
            <a:ext cx="8778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ECAE6"/>
                </a:solidFill>
              </a:rPr>
              <a:t>Circuits plus profonds (reps=2-3)  ·  Données genuinement quantiques  ·  QKRR comme alternative principale  ·  Sélection par diversité  ·  Hardware réel IBM Quantum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CAE6"/>
                </a:solidFill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40880" y="-731519"/>
            <a:ext cx="5120640" cy="5120640"/>
          </a:xfrm>
          <a:prstGeom prst="ellipse">
            <a:avLst/>
          </a:prstGeom>
          <a:noFill/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20" y="3200400"/>
            <a:ext cx="2743200" cy="2743200"/>
          </a:xfrm>
          <a:prstGeom prst="ellipse">
            <a:avLst/>
          </a:prstGeom>
          <a:noFill/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QUANTUM MULTIPLE KERNEL LEARNING · 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</a:rPr>
              <a:t>Merci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86200"/>
            <a:ext cx="8229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ECAE6"/>
                </a:solidFill>
              </a:rPr>
              <a:t>·  17 notebooks  ·  14 contributions originales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5312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ECAE6"/>
                </a:solidFill>
              </a:rPr>
              <a:t>·  Python 3.14 · Qiskit 2.3.1 · Statevector exact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3717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ECAE6"/>
                </a:solidFill>
              </a:rPr>
              <a:t>·  German Credit · Bank Marketing · Breast Cancer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2122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ECAE6"/>
                </a:solidFill>
              </a:rPr>
              <a:t>·  arXiv 2602.16097 — Notebook 17 : mitigation concentration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ECAE6"/>
                </a:solidFill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